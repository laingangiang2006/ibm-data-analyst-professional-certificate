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5"/>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p:notesSz cx="6858000" cy="1857375"/>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21" autoAdjust="0"/>
    <p:restoredTop sz="91411" autoAdjust="0"/>
  </p:normalViewPr>
  <p:slideViewPr>
    <p:cSldViewPr snapToGrid="0">
      <p:cViewPr varScale="1">
        <p:scale>
          <a:sx n="69" d="100"/>
          <a:sy n="69" d="100"/>
        </p:scale>
        <p:origin x="160" y="920"/>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  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Boston Housing Data Analysis</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Exploratory Data Analysis – Boston Housing Dataset</a:t>
            </a:r>
          </a:p>
          <a:p>
            <a:pPr marL="0" indent="0">
              <a:buNone/>
            </a:pPr>
            <a:r>
              <a:rPr lang="en-US" dirty="0">
                <a:solidFill>
                  <a:schemeClr val="bg1">
                    <a:lumMod val="75000"/>
                  </a:schemeClr>
                </a:solidFill>
                <a:latin typeface="IBM Plex Mono Medium" panose="020B0609050203000203" pitchFamily="49" charset="0"/>
              </a:rPr>
              <a:t>Year: 2026</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t>Boston Housing Dataset: Key Findings</a:t>
            </a:r>
          </a:p>
          <a:p>
            <a:r>
              <a:rPr lang="en-US" sz="2200" dirty="0"/>
              <a:t>MEDV is right-skewed (median ~$21K) with significant high-value outliers above $40K</a:t>
            </a:r>
          </a:p>
          <a:p>
            <a:r>
              <a:rPr lang="en-US" sz="2200" dirty="0"/>
              <a:t>Only 7% of properties border the Charles River (CHAS=1)</a:t>
            </a:r>
          </a:p>
          <a:p>
            <a:pPr lvl="1"/>
            <a:r>
              <a:rPr lang="en-US" sz="1800" dirty="0"/>
              <a:t>Newer homes command ~44% higher median values than older homes</a:t>
            </a:r>
          </a:p>
          <a:p>
            <a:pPr lvl="1"/>
            <a:r>
              <a:rPr lang="en-US" sz="1800" dirty="0"/>
              <a:t>Building age is a strong predictor of home value</a:t>
            </a:r>
          </a:p>
          <a:p>
            <a:pPr lvl="1"/>
            <a:r>
              <a:rPr lang="en-US" sz="1800" dirty="0"/>
              <a:t>Industrial areas (INDUS ~18-19) show NOX concentrations up to 0.87</a:t>
            </a:r>
          </a:p>
          <a:p>
            <a:r>
              <a:rPr lang="en-US" sz="2200" dirty="0"/>
              <a:t>NOX pollution rises sharply with industrial land use proportion</a:t>
            </a:r>
          </a:p>
          <a:p>
            <a:r>
              <a:rPr lang="en-US" sz="2200" dirty="0"/>
              <a:t>Pupil-teacher ratios cluster heavily at 20-21, with few resource-rich districts</a:t>
            </a:r>
          </a:p>
          <a:p>
            <a:r>
              <a:rPr lang="en-US" sz="2200" dirty="0"/>
              <a:t>Dataset: 506 Boston suburban tracts, 13 predictors of median home value</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400" dirty="0">
                <a:solidFill>
                  <a:schemeClr val="bg1">
                    <a:lumMod val="75000"/>
                  </a:schemeClr>
                </a:solidFill>
              </a:rPr>
              <a:t>Boston Housing Dataset – Context &amp; Purpose</a:t>
            </a:r>
            <a:endParaRPr lang="en-US" sz="2200" dirty="0">
              <a:solidFill>
                <a:schemeClr val="bg1">
                  <a:lumMod val="75000"/>
                </a:schemeClr>
              </a:solidFill>
            </a:endParaRPr>
          </a:p>
          <a:p>
            <a:r>
              <a:rPr lang="en-US" sz="2200" dirty="0">
                <a:solidFill>
                  <a:schemeClr val="tx1"/>
                </a:solidFill>
              </a:rPr>
              <a:t>Dataset: 506 census tracts from Boston area (Harrison &amp; Rubinfeld, 1978)</a:t>
            </a:r>
          </a:p>
          <a:p>
            <a:r>
              <a:rPr lang="en-US" sz="2200" dirty="0">
                <a:solidFill>
                  <a:schemeClr val="tx1"/>
                </a:solidFill>
              </a:rPr>
              <a:t>Target: Median home value (MEDV) and its relationship to 13 housing/environmental features</a:t>
            </a:r>
          </a:p>
          <a:p>
            <a:r>
              <a:rPr lang="en-US" sz="2200" dirty="0">
                <a:solidFill>
                  <a:schemeClr val="tx1"/>
                </a:solidFill>
              </a:rPr>
              <a:t>Purpose: Identify key drivers of home values to support urban planning and policy</a:t>
            </a:r>
          </a:p>
          <a:p>
            <a:r>
              <a:rPr lang="en-US" sz="2200" dirty="0">
                <a:solidFill>
                  <a:schemeClr val="tx1"/>
                </a:solidFill>
              </a:rPr>
              <a:t>Audience: Data analysts, urban economists, policymakers</a:t>
            </a:r>
          </a:p>
          <a:p>
            <a:pPr lvl="1"/>
            <a:r>
              <a:rPr lang="en-US" sz="1800" dirty="0">
                <a:solidFill>
                  <a:schemeClr val="tx1"/>
                </a:solidFill>
              </a:rPr>
              <a:t>Variables include crime rate, zoning, NOX pollution, rooms, age, accessibility, tax, school quality</a:t>
            </a:r>
          </a:p>
          <a:p>
            <a:pPr lvl="1"/>
            <a:r>
              <a:rPr lang="en-US" sz="1800" dirty="0">
                <a:solidFill>
                  <a:schemeClr val="tx1"/>
                </a:solidFill>
              </a:rPr>
              <a:t>Analysis focuses on 5 key visualizations: MEDV distribution, river proximity, age-value trends, air quality, and school ratios</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t>Data Source &amp; Analytical Approach</a:t>
            </a:r>
          </a:p>
          <a:p>
            <a:r>
              <a:rPr lang="en-US" sz="2200" dirty="0"/>
              <a:t>Source: Boston Housing dataset (UCI ML Repository / sklearn.datasets)</a:t>
            </a:r>
          </a:p>
          <a:p>
            <a:r>
              <a:rPr lang="en-US" sz="2200" dirty="0"/>
              <a:t>506 observations, 13 numeric features + 1 binary (CHAS)</a:t>
            </a:r>
          </a:p>
          <a:p>
            <a:r>
              <a:rPr lang="en-US" sz="2200" dirty="0"/>
              <a:t>Tools: Python (pandas, matplotlib, seaborn) for EDA and visualization</a:t>
            </a:r>
          </a:p>
          <a:p>
            <a:r>
              <a:rPr lang="en-US" sz="2200" dirty="0"/>
              <a:t>Steps: Load → inspect missing values → descriptive statistics → visualize distributions &amp; relationships</a:t>
            </a:r>
          </a:p>
          <a:p>
            <a:pPr lvl="1"/>
            <a:r>
              <a:rPr lang="en-US" sz="2200" dirty="0"/>
              <a:t>AGE_GROUP variable engineered: Young (&lt;35%), Middle (35-70%), Old (&gt;70% pre-1940 units)</a:t>
            </a:r>
          </a:p>
          <a:p>
            <a:pPr lvl="1"/>
            <a:r>
              <a:rPr lang="en-US" sz="2200" dirty="0"/>
              <a:t>Outlier analysis via boxplot; correlation explored via scatter plots</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468" y="2101175"/>
            <a:ext cx="2972979" cy="2972979"/>
          </a:xfrm>
          <a:prstGeom prst="rect">
            <a:avLst/>
          </a:prstGeom>
        </p:spPr>
      </p:pic>
      <p:sp>
        <p:nvSpPr>
          <p:cNvPr id="8" name="TextBox 7">
            <a:extLst>
              <a:ext uri="{FF2B5EF4-FFF2-40B4-BE49-F238E27FC236}">
                <a16:creationId xmlns:a16="http://schemas.microsoft.com/office/drawing/2014/main" id="{9C6D1E5C-FB56-616C-9776-6EF59DA07045}"/>
              </a:ext>
            </a:extLst>
          </p:cNvPr>
          <p:cNvSpPr txBox="1"/>
          <p:nvPr/>
        </p:nvSpPr>
        <p:spPr>
          <a:xfrm>
            <a:off x="3818965" y="3126000"/>
            <a:ext cx="7413336" cy="461665"/>
          </a:xfrm>
          <a:prstGeom prst="rect">
            <a:avLst/>
          </a:prstGeom>
          <a:noFill/>
        </p:spPr>
        <p:txBody>
          <a:bodyPr wrap="square">
            <a:spAutoFit/>
          </a:bodyPr>
          <a:lstStyle/>
          <a:p>
            <a:pPr marL="0" indent="0">
              <a:buFont typeface="Arial"/>
              <a:buNone/>
            </a:pPr>
            <a:r>
              <a:rPr lang="en-US" sz="2400" dirty="0"/>
              <a:t>Five exploratory visualizations reveal patterns in housing values, environmental quality, and school resources across Boston’s 506 census tracts.</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845" y="300000"/>
            <a:ext cx="11087100" cy="900000"/>
          </a:xfrm>
        </p:spPr>
        <p:txBody>
          <a:bodyPr anchor="ctr">
            <a:normAutofit/>
          </a:bodyPr>
          <a:lstStyle/>
          <a:p>
            <a:r>
              <a:rPr lang="en-US" dirty="0"/>
              <a:t>MEDV DISTRIBUTION (BOXPLOT)</a:t>
            </a:r>
          </a:p>
        </p:txBody>
      </p:sp>
      <p:pic>
        <p:nvPicPr>
          <p:cNvPr id="6" name="Picture 5">
            <a:extLst>
              <a:ext uri="{FF2B5EF4-FFF2-40B4-BE49-F238E27FC236}">
                <a16:creationId xmlns:a16="http://schemas.microsoft.com/office/drawing/2014/main" id="{0760BFA9-FB45-E2C9-8865-DC2896AAEED5}"/>
              </a:ext>
            </a:extLst>
          </p:cNvPr>
          <p:cNvPicPr>
            <a:picLocks noChangeAspect="1"/>
          </p:cNvPicPr>
          <p:nvPr/>
        </p:nvPicPr>
        <p:blipFill>
          <a:blip r:embed="rId2"/>
          <a:stretch>
            <a:fillRect/>
          </a:stretch>
        </p:blipFill>
        <p:spPr>
          <a:xfrm>
            <a:off x="633845" y="1200000"/>
            <a:ext cx="6769100" cy="5076825"/>
          </a:xfrm>
          <a:prstGeom prst="rect">
            <a:avLst/>
          </a:prstGeom>
        </p:spPr>
      </p:pic>
      <p:sp>
        <p:nvSpPr>
          <p:cNvPr id="8" name="Caption">
            <a:extLst>
              <a:ext uri="{FF2B5EF4-FFF2-40B4-BE49-F238E27FC236}">
                <a16:creationId xmlns:a16="http://schemas.microsoft.com/office/drawing/2014/main" id="{297E2450-CE55-17F9-AECB-264498F356F4}"/>
              </a:ext>
            </a:extLst>
          </p:cNvPr>
          <p:cNvSpPr txBox="1"/>
          <p:nvPr/>
        </p:nvSpPr>
        <p:spPr>
          <a:xfrm>
            <a:off x="7298900" y="1200000"/>
            <a:ext cx="4893100" cy="4887191"/>
          </a:xfrm>
          <a:prstGeom prst="rect">
            <a:avLst/>
          </a:prstGeom>
          <a:solidFill>
            <a:schemeClr val="tx2"/>
          </a:solidFill>
          <a:ln>
            <a:noFill/>
          </a:ln>
        </p:spPr>
        <p:style>
          <a:lnRef idx="1">
            <a:schemeClr val="dk1"/>
          </a:lnRef>
          <a:fillRef idx="2">
            <a:schemeClr val="dk1"/>
          </a:fillRef>
          <a:effectRef idx="1">
            <a:schemeClr val="dk1"/>
          </a:effectRef>
          <a:fontRef idx="minor">
            <a:schemeClr val="dk1"/>
          </a:fontRef>
        </p:style>
        <p:txBody>
          <a:bodyPr wrap="square" lIns="91440" tIns="91440" rIns="91440" bIns="91440">
            <a:normAutofit/>
          </a:bodyPr>
          <a:lstStyle/>
          <a:p>
            <a:r>
              <a:rPr lang="en-US" b="1" dirty="0"/>
              <a:t>Key Insight</a:t>
            </a:r>
          </a:p>
          <a:p>
            <a:r>
              <a:rPr lang="en-US" sz="1600" dirty="0"/>
              <a:t>Median home values center around $21,000. The distribution is right-skewed with notable outliers above $40,000. The IQR spans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845" y="300000"/>
            <a:ext cx="11087100" cy="900000"/>
          </a:xfrm>
        </p:spPr>
        <p:txBody>
          <a:bodyPr anchor="ctr">
            <a:normAutofit/>
          </a:bodyPr>
          <a:lstStyle/>
          <a:p>
            <a:r>
              <a:rPr lang="en-US" dirty="0"/>
              <a:t>CHARLES RIVER PROXIMITY (CHAS)</a:t>
            </a:r>
          </a:p>
        </p:txBody>
      </p:sp>
      <p:sp>
        <p:nvSpPr>
          <p:cNvPr id="4" name="Caption"/>
          <p:cNvSpPr txBox="1"/>
          <p:nvPr/>
        </p:nvSpPr>
        <p:spPr>
          <a:xfrm>
            <a:off x="7150100" y="1262809"/>
            <a:ext cx="4893100" cy="4887191"/>
          </a:xfrm>
          <a:prstGeom prst="rect">
            <a:avLst/>
          </a:prstGeom>
          <a:solidFill>
            <a:schemeClr val="tx2"/>
          </a:solidFill>
          <a:ln>
            <a:noFill/>
          </a:ln>
        </p:spPr>
        <p:style>
          <a:lnRef idx="1">
            <a:schemeClr val="dk1"/>
          </a:lnRef>
          <a:fillRef idx="2">
            <a:schemeClr val="dk1"/>
          </a:fillRef>
          <a:effectRef idx="1">
            <a:schemeClr val="dk1"/>
          </a:effectRef>
          <a:fontRef idx="minor">
            <a:schemeClr val="dk1"/>
          </a:fontRef>
        </p:style>
        <p:txBody>
          <a:bodyPr wrap="square" lIns="91440" tIns="91440" rIns="91440" bIns="91440">
            <a:normAutofit/>
          </a:bodyPr>
          <a:lstStyle/>
          <a:p>
            <a:pPr algn="l">
              <a:buNone/>
            </a:pPr>
            <a:r>
              <a:rPr lang="en-US" sz="1600" b="1"/>
              <a:t>Key Insight</a:t>
            </a:r>
          </a:p>
          <a:p>
            <a:pPr algn="l">
              <a:buNone/>
            </a:pPr>
            <a:r>
              <a:rPr lang="en-US" sz="1400"/>
              <a:t>Only ~7% of homes (~35) are bounded by the Charles River (CHAS=1). The vast majority (~471) are not river-adjacent, making river proximity a rare attribute in this dataset.</a:t>
            </a:r>
            <a:endParaRPr lang="en-US" sz="1400" dirty="0"/>
          </a:p>
        </p:txBody>
      </p:sp>
      <p:pic>
        <p:nvPicPr>
          <p:cNvPr id="6" name="Picture 5">
            <a:extLst>
              <a:ext uri="{FF2B5EF4-FFF2-40B4-BE49-F238E27FC236}">
                <a16:creationId xmlns:a16="http://schemas.microsoft.com/office/drawing/2014/main" id="{DEC09A59-7412-C440-10FD-AE765CEB7DEA}"/>
              </a:ext>
            </a:extLst>
          </p:cNvPr>
          <p:cNvPicPr>
            <a:picLocks noChangeAspect="1"/>
          </p:cNvPicPr>
          <p:nvPr/>
        </p:nvPicPr>
        <p:blipFill>
          <a:blip r:embed="rId2"/>
          <a:stretch>
            <a:fillRect/>
          </a:stretch>
        </p:blipFill>
        <p:spPr>
          <a:xfrm>
            <a:off x="633845" y="1350000"/>
            <a:ext cx="6516255" cy="48871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845" y="300000"/>
            <a:ext cx="11087100" cy="900000"/>
          </a:xfrm>
        </p:spPr>
        <p:txBody>
          <a:bodyPr anchor="ctr">
            <a:normAutofit/>
          </a:bodyPr>
          <a:lstStyle/>
          <a:p>
            <a:r>
              <a:rPr lang="en-US" dirty="0"/>
              <a:t>HOME VALUES BY BUILDING AGE GROUP</a:t>
            </a:r>
          </a:p>
        </p:txBody>
      </p:sp>
      <p:sp>
        <p:nvSpPr>
          <p:cNvPr id="5" name="Caption">
            <a:extLst>
              <a:ext uri="{FF2B5EF4-FFF2-40B4-BE49-F238E27FC236}">
                <a16:creationId xmlns:a16="http://schemas.microsoft.com/office/drawing/2014/main" id="{972F8128-E465-81FE-BC23-160CD6334A66}"/>
              </a:ext>
            </a:extLst>
          </p:cNvPr>
          <p:cNvSpPr txBox="1"/>
          <p:nvPr/>
        </p:nvSpPr>
        <p:spPr>
          <a:xfrm>
            <a:off x="7298900" y="1350000"/>
            <a:ext cx="4893100" cy="4887191"/>
          </a:xfrm>
          <a:prstGeom prst="rect">
            <a:avLst/>
          </a:prstGeom>
          <a:solidFill>
            <a:schemeClr val="tx2"/>
          </a:solidFill>
          <a:ln>
            <a:noFill/>
          </a:ln>
        </p:spPr>
        <p:style>
          <a:lnRef idx="1">
            <a:schemeClr val="dk1"/>
          </a:lnRef>
          <a:fillRef idx="2">
            <a:schemeClr val="dk1"/>
          </a:fillRef>
          <a:effectRef idx="1">
            <a:schemeClr val="dk1"/>
          </a:effectRef>
          <a:fontRef idx="minor">
            <a:schemeClr val="dk1"/>
          </a:fontRef>
        </p:style>
        <p:txBody>
          <a:bodyPr wrap="square" lIns="91440" tIns="91440" rIns="91440" bIns="91440">
            <a:normAutofit/>
          </a:bodyPr>
          <a:lstStyle/>
          <a:p>
            <a:r>
              <a:rPr lang="en-US" sz="2000" b="1" dirty="0"/>
              <a:t>Key Insight</a:t>
            </a:r>
          </a:p>
          <a:p>
            <a:r>
              <a:rPr lang="en-US" dirty="0"/>
              <a:t>Newer homes (Young) command higher median values (~$26K) vs. older homes (Old, ~$18K). Older neighborhoods show more value compression, suggesting age is a meaningful predictor of MEDV.</a:t>
            </a:r>
          </a:p>
        </p:txBody>
      </p:sp>
      <p:pic>
        <p:nvPicPr>
          <p:cNvPr id="7" name="Picture 6">
            <a:extLst>
              <a:ext uri="{FF2B5EF4-FFF2-40B4-BE49-F238E27FC236}">
                <a16:creationId xmlns:a16="http://schemas.microsoft.com/office/drawing/2014/main" id="{F3616AC7-74E7-2A4B-9CF2-261BF82A9A92}"/>
              </a:ext>
            </a:extLst>
          </p:cNvPr>
          <p:cNvPicPr>
            <a:picLocks noChangeAspect="1"/>
          </p:cNvPicPr>
          <p:nvPr/>
        </p:nvPicPr>
        <p:blipFill>
          <a:blip r:embed="rId2"/>
          <a:stretch>
            <a:fillRect/>
          </a:stretch>
        </p:blipFill>
        <p:spPr>
          <a:xfrm>
            <a:off x="633844" y="1199999"/>
            <a:ext cx="6665055" cy="49987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HOME VALUE &amp; RIVER PROXIMITY – FINDINGS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normAutofit lnSpcReduction="10000"/>
          </a:bodyPr>
          <a:lstStyle/>
          <a:p>
            <a:pPr marL="0" indent="0">
              <a:buNone/>
            </a:pPr>
            <a:r>
              <a:rPr lang="en-US" dirty="0"/>
              <a:t>Findings</a:t>
            </a:r>
          </a:p>
          <a:p>
            <a:pPr marL="0" indent="0">
              <a:buNone/>
            </a:pPr>
            <a:endParaRPr lang="en-US" dirty="0"/>
          </a:p>
          <a:p>
            <a:r>
              <a:rPr lang="en-US" dirty="0"/>
              <a:t>MEDV median is $21K with IQR of $8K, indicating moderate spread</a:t>
            </a:r>
          </a:p>
          <a:p>
            <a:r>
              <a:rPr lang="en-US" dirty="0"/>
              <a:t>Outliers above $40K (capped at $50K) suggest data censoring or luxury pockets</a:t>
            </a:r>
          </a:p>
          <a:p>
            <a:r>
              <a:rPr lang="en-US" dirty="0"/>
              <a:t>Only 35 tracts (~7%) border the Charles River</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normAutofit lnSpcReduction="10000"/>
          </a:bodyPr>
          <a:lstStyle/>
          <a:p>
            <a:pPr marL="0" indent="0">
              <a:buNone/>
            </a:pPr>
            <a:r>
              <a:rPr lang="en-US" dirty="0"/>
              <a:t>Implications</a:t>
            </a:r>
          </a:p>
          <a:p>
            <a:pPr marL="0" indent="0">
              <a:buNone/>
            </a:pPr>
            <a:endParaRPr lang="en-US" dirty="0"/>
          </a:p>
          <a:p>
            <a:r>
              <a:rPr lang="en-US" dirty="0"/>
              <a:t>River-adjacent land may command premium pricing worth investigating</a:t>
            </a:r>
          </a:p>
          <a:p>
            <a:r>
              <a:rPr lang="en-US" dirty="0"/>
              <a:t>Outlier tracts may need separate modeling treatment</a:t>
            </a:r>
          </a:p>
          <a:p>
            <a:r>
              <a:rPr lang="en-US" dirty="0"/>
              <a:t>Class imbalance in CHAS limits its predictive power without weighting</a:t>
            </a:r>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845" y="300000"/>
            <a:ext cx="11087100" cy="900000"/>
          </a:xfrm>
        </p:spPr>
        <p:txBody>
          <a:bodyPr anchor="ctr">
            <a:normAutofit fontScale="90000"/>
          </a:bodyPr>
          <a:lstStyle/>
          <a:p>
            <a:r>
              <a:rPr lang="en-US" dirty="0"/>
              <a:t>NOX POLLUTION VS. INDUSTRIAL LAND (INDUS)</a:t>
            </a:r>
          </a:p>
        </p:txBody>
      </p:sp>
      <p:sp>
        <p:nvSpPr>
          <p:cNvPr id="5" name="Caption">
            <a:extLst>
              <a:ext uri="{FF2B5EF4-FFF2-40B4-BE49-F238E27FC236}">
                <a16:creationId xmlns:a16="http://schemas.microsoft.com/office/drawing/2014/main" id="{3F993143-0D99-A54B-EECB-68808077AFA9}"/>
              </a:ext>
            </a:extLst>
          </p:cNvPr>
          <p:cNvSpPr txBox="1"/>
          <p:nvPr/>
        </p:nvSpPr>
        <p:spPr>
          <a:xfrm>
            <a:off x="7298900" y="1306404"/>
            <a:ext cx="4893100" cy="4887191"/>
          </a:xfrm>
          <a:prstGeom prst="rect">
            <a:avLst/>
          </a:prstGeom>
          <a:solidFill>
            <a:schemeClr val="tx2"/>
          </a:solidFill>
          <a:ln>
            <a:noFill/>
          </a:ln>
        </p:spPr>
        <p:style>
          <a:lnRef idx="1">
            <a:schemeClr val="dk1"/>
          </a:lnRef>
          <a:fillRef idx="2">
            <a:schemeClr val="dk1"/>
          </a:fillRef>
          <a:effectRef idx="1">
            <a:schemeClr val="dk1"/>
          </a:effectRef>
          <a:fontRef idx="minor">
            <a:schemeClr val="dk1"/>
          </a:fontRef>
        </p:style>
        <p:txBody>
          <a:bodyPr wrap="square" lIns="91440" tIns="91440" rIns="91440" bIns="91440">
            <a:normAutofit/>
          </a:bodyPr>
          <a:lstStyle/>
          <a:p>
            <a:r>
              <a:rPr lang="en-US" sz="2400" b="1" dirty="0"/>
              <a:t>Key Insight</a:t>
            </a:r>
          </a:p>
          <a:p>
            <a:r>
              <a:rPr lang="en-US" sz="2000" dirty="0"/>
              <a:t>NOX emissions increase with industrial land share. A cluster near INDUS=18-19 shows elevated NOX (~0.65-0.87). Low-industrial areas maintain NOX below 0.55.</a:t>
            </a:r>
          </a:p>
        </p:txBody>
      </p:sp>
      <p:pic>
        <p:nvPicPr>
          <p:cNvPr id="7" name="Picture 6">
            <a:extLst>
              <a:ext uri="{FF2B5EF4-FFF2-40B4-BE49-F238E27FC236}">
                <a16:creationId xmlns:a16="http://schemas.microsoft.com/office/drawing/2014/main" id="{2A36E097-5589-C85F-35D7-3A8F4766C1BB}"/>
              </a:ext>
            </a:extLst>
          </p:cNvPr>
          <p:cNvPicPr>
            <a:picLocks noChangeAspect="1"/>
          </p:cNvPicPr>
          <p:nvPr/>
        </p:nvPicPr>
        <p:blipFill>
          <a:blip r:embed="rId2"/>
          <a:stretch>
            <a:fillRect/>
          </a:stretch>
        </p:blipFill>
        <p:spPr>
          <a:xfrm>
            <a:off x="633844" y="1199999"/>
            <a:ext cx="6665055" cy="499879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AGE &amp; POLLUTION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normAutofit fontScale="92500" lnSpcReduction="10000"/>
          </a:bodyPr>
          <a:lstStyle/>
          <a:p>
            <a:pPr marL="0" indent="0">
              <a:buNone/>
            </a:pPr>
            <a:r>
              <a:rPr lang="en-US" dirty="0"/>
              <a:t>Findings</a:t>
            </a:r>
          </a:p>
          <a:p>
            <a:pPr marL="0" indent="0">
              <a:buNone/>
            </a:pPr>
            <a:endParaRPr lang="en-US" dirty="0"/>
          </a:p>
          <a:p>
            <a:r>
              <a:rPr lang="en-US" dirty="0"/>
              <a:t>Young homes have median MEDV ~$26K vs ~$18K for Old homes</a:t>
            </a:r>
          </a:p>
          <a:p>
            <a:r>
              <a:rPr lang="en-US" dirty="0"/>
              <a:t>Industrial zones (INDUS ~18-19) form a pollution cluster with NOX up to 0.87</a:t>
            </a:r>
          </a:p>
          <a:p>
            <a:r>
              <a:rPr lang="en-US" dirty="0"/>
              <a:t>Low-industry areas (&lt;5%) consistently maintain NOX below 0.55</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normAutofit fontScale="92500" lnSpcReduction="10000"/>
          </a:bodyPr>
          <a:lstStyle/>
          <a:p>
            <a:pPr marL="0" indent="0">
              <a:buNone/>
            </a:pPr>
            <a:r>
              <a:rPr lang="en-US" dirty="0"/>
              <a:t>Implications</a:t>
            </a:r>
          </a:p>
          <a:p>
            <a:pPr marL="0" indent="0">
              <a:buNone/>
            </a:pPr>
            <a:endParaRPr lang="en-US" dirty="0"/>
          </a:p>
          <a:p>
            <a:r>
              <a:rPr lang="en-US" dirty="0"/>
              <a:t>Age and NOX are strong candidates for inclusion in predictive models</a:t>
            </a:r>
          </a:p>
          <a:p>
            <a:r>
              <a:rPr lang="en-US" dirty="0"/>
              <a:t>Targeting industrial zones for remediation could raise neighborhood values</a:t>
            </a:r>
          </a:p>
          <a:p>
            <a:r>
              <a:rPr lang="en-US" dirty="0"/>
              <a:t>NOX-INDUS relationship supports zoning policy recommendations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ADDITIONAL ANALYSIS</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dirty="0"/>
              <a:t>Extended findings on school resources, demographic patterns, and cross-variable relationships.</a:t>
            </a:r>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3845" y="300000"/>
            <a:ext cx="11087100" cy="900000"/>
          </a:xfrm>
        </p:spPr>
        <p:txBody>
          <a:bodyPr anchor="ctr">
            <a:normAutofit/>
          </a:bodyPr>
          <a:lstStyle/>
          <a:p>
            <a:r>
              <a:rPr lang="en-US" dirty="0"/>
              <a:t>PUPIL-TEACHER RATIO DISTRIBUTION</a:t>
            </a:r>
          </a:p>
        </p:txBody>
      </p:sp>
      <p:sp>
        <p:nvSpPr>
          <p:cNvPr id="5" name="Caption">
            <a:extLst>
              <a:ext uri="{FF2B5EF4-FFF2-40B4-BE49-F238E27FC236}">
                <a16:creationId xmlns:a16="http://schemas.microsoft.com/office/drawing/2014/main" id="{8A92ECB4-67A1-81F3-6A27-635D348DA879}"/>
              </a:ext>
            </a:extLst>
          </p:cNvPr>
          <p:cNvSpPr txBox="1"/>
          <p:nvPr/>
        </p:nvSpPr>
        <p:spPr>
          <a:xfrm>
            <a:off x="7298900" y="1200000"/>
            <a:ext cx="4893100" cy="4887191"/>
          </a:xfrm>
          <a:prstGeom prst="rect">
            <a:avLst/>
          </a:prstGeom>
          <a:solidFill>
            <a:schemeClr val="tx2"/>
          </a:solidFill>
          <a:ln>
            <a:noFill/>
          </a:ln>
        </p:spPr>
        <p:style>
          <a:lnRef idx="1">
            <a:schemeClr val="dk1"/>
          </a:lnRef>
          <a:fillRef idx="2">
            <a:schemeClr val="dk1"/>
          </a:fillRef>
          <a:effectRef idx="1">
            <a:schemeClr val="dk1"/>
          </a:effectRef>
          <a:fontRef idx="minor">
            <a:schemeClr val="dk1"/>
          </a:fontRef>
        </p:style>
        <p:txBody>
          <a:bodyPr wrap="square" lIns="91440" tIns="91440" rIns="91440" bIns="91440">
            <a:normAutofit/>
          </a:bodyPr>
          <a:lstStyle/>
          <a:p>
            <a:r>
              <a:rPr lang="en-US" sz="2800" b="1" dirty="0"/>
              <a:t>Key Insight</a:t>
            </a:r>
          </a:p>
          <a:p>
            <a:r>
              <a:rPr lang="en-US" sz="2400" dirty="0"/>
              <a:t>PTRATIO is heavily concentrated at 20-21, suggesting many districts share a common staffing standard. Ratios below 14 are rare, indicating a left-sparse distribution with few low-ratio (resource-rich) schools.</a:t>
            </a:r>
          </a:p>
        </p:txBody>
      </p:sp>
      <p:pic>
        <p:nvPicPr>
          <p:cNvPr id="7" name="Picture 6">
            <a:extLst>
              <a:ext uri="{FF2B5EF4-FFF2-40B4-BE49-F238E27FC236}">
                <a16:creationId xmlns:a16="http://schemas.microsoft.com/office/drawing/2014/main" id="{B5757527-B2D5-2CA4-7FCF-0BF3F5D2F385}"/>
              </a:ext>
            </a:extLst>
          </p:cNvPr>
          <p:cNvPicPr>
            <a:picLocks noChangeAspect="1"/>
          </p:cNvPicPr>
          <p:nvPr/>
        </p:nvPicPr>
        <p:blipFill>
          <a:blip r:embed="rId2"/>
          <a:stretch>
            <a:fillRect/>
          </a:stretch>
        </p:blipFill>
        <p:spPr>
          <a:xfrm>
            <a:off x="633844" y="1199999"/>
            <a:ext cx="6665056" cy="499879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a:bodyPr>
          <a:lstStyle/>
          <a:p>
            <a:r>
              <a:rPr lang="en-US" dirty="0"/>
              <a:t>PTRATIO – FINDINGS &amp; IMPLICATIONS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Key Finding</a:t>
            </a:r>
          </a:p>
          <a:p>
            <a:r>
              <a:rPr lang="en-US" dirty="0"/>
              <a:t>School Resources</a:t>
            </a:r>
          </a:p>
          <a:p>
            <a:r>
              <a:rPr lang="en-US" dirty="0"/>
              <a:t>Most districts cluster at PTRATIO 20-21, pointing to standardized class sizes. Only a small minority of tracts fall below 14, suggesting that low ratios (better-resourced schools) are geographically concentrated and potentially linked to higher MEDV.</a:t>
            </a:r>
          </a:p>
          <a:p>
            <a:pPr marL="0" indent="0">
              <a:buNone/>
            </a:pPr>
            <a:endParaRPr lang="en-US" dirty="0"/>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CROSS-VARIABLE RELATIONSHIPS</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Correlation Summary</a:t>
            </a:r>
          </a:p>
          <a:p>
            <a:r>
              <a:rPr lang="en-US" dirty="0"/>
              <a:t>Variable Interactions</a:t>
            </a:r>
          </a:p>
          <a:p>
            <a:r>
              <a:rPr lang="en-IN" dirty="0"/>
              <a:t>NOX and INDUS are strongly correlated. AGE negatively predicts MEDV. PTRATIO inversely correlates with home values. CHAS shows modest positive association with MEDV. These relationships suggest a combined model using AGE, NOX, and PTRATIO would be highly predictive.</a:t>
            </a:r>
            <a:endParaRPr lang="en-US" dirty="0"/>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5081155" y="1825625"/>
            <a:ext cx="6272645" cy="4351338"/>
          </a:xfrm>
        </p:spPr>
        <p:txBody>
          <a:bodyPr>
            <a:normAutofit fontScale="92500" lnSpcReduction="20000"/>
          </a:bodyPr>
          <a:lstStyle/>
          <a:p>
            <a:r>
              <a:rPr lang="en-US" dirty="0"/>
              <a:t>This analysis reveals that Boston home values are shaped by a constellation of factors: neighborhood age, industrial proximity (and related air quality), school resources, and geographic features like river adjacency. Older, more industrial tracts with higher pupil-teacher ratios consistently show lower median values. These patterns suggest policy interventions around environmental remediation, school funding equity, and preservation of green corridors could materially lift home values in underperforming tracts.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fontScale="92500" lnSpcReduction="20000"/>
          </a:bodyPr>
          <a:lstStyle/>
          <a:p>
            <a:pPr marL="0" indent="0">
              <a:buNone/>
            </a:pPr>
            <a:r>
              <a:rPr lang="en-US" dirty="0"/>
              <a:t>Findings</a:t>
            </a:r>
          </a:p>
          <a:p>
            <a:pPr marL="0" indent="0">
              <a:buNone/>
            </a:pPr>
            <a:endParaRPr lang="en-US" dirty="0"/>
          </a:p>
          <a:p>
            <a:r>
              <a:rPr lang="en-US" dirty="0"/>
              <a:t>Building age is inversely related to home value across all age groups</a:t>
            </a:r>
          </a:p>
          <a:p>
            <a:r>
              <a:rPr lang="en-US" dirty="0"/>
              <a:t>Industrial activity and NOX pollution are tightly coupled and concentrated geographically</a:t>
            </a:r>
          </a:p>
          <a:p>
            <a:r>
              <a:rPr lang="en-US" dirty="0"/>
              <a:t>School resource ratios (PTRATIO) are bimodally distributed, indicating systemic inequality</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fontScale="92500" lnSpcReduction="20000"/>
          </a:bodyPr>
          <a:lstStyle/>
          <a:p>
            <a:pPr marL="0" indent="0">
              <a:buNone/>
            </a:pPr>
            <a:r>
              <a:rPr lang="en-US" dirty="0"/>
              <a:t>Implications</a:t>
            </a:r>
          </a:p>
          <a:p>
            <a:pPr marL="0" indent="0">
              <a:buNone/>
            </a:pPr>
            <a:endParaRPr lang="en-US" dirty="0"/>
          </a:p>
          <a:p>
            <a:r>
              <a:rPr lang="en-US" dirty="0"/>
              <a:t>Predictive models should include AGE, NOX, PTRATIO as primary features</a:t>
            </a:r>
          </a:p>
          <a:p>
            <a:r>
              <a:rPr lang="en-US" dirty="0"/>
              <a:t>Policy levers: industrial zoning reform, school investment in high-PTRATIO areas</a:t>
            </a:r>
          </a:p>
          <a:p>
            <a:r>
              <a:rPr lang="en-US" dirty="0"/>
              <a:t>River proximity (CHAS) is a rare but potentially high-value attribute for further study</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Boston home values are strongly influenced by neighborhood age, industrial land use, and school quality</a:t>
            </a:r>
          </a:p>
          <a:p>
            <a:r>
              <a:rPr lang="en-US"/>
              <a:t>Environmental factors (NOX, INDUS) cluster geographically and correlate with lower MEDV</a:t>
            </a:r>
          </a:p>
          <a:p>
            <a:r>
              <a:rPr lang="en-US"/>
              <a:t>Pupil-teacher ratio distribution reveals resource inequality across districts</a:t>
            </a:r>
          </a:p>
          <a:p>
            <a:r>
              <a:rPr lang="en-US"/>
              <a:t>EDA confirms multiple actionable predictors for regression modeling and policy planning</a:t>
            </a:r>
            <a:endParaRPr lang="en-US" dirty="0"/>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p:txBody>
          <a:bodyPr anchor="ctr">
            <a:normAutofit/>
          </a:bodyPr>
          <a:lstStyle/>
          <a:p>
            <a:r>
              <a:rPr lang="en-US" dirty="0"/>
              <a:t>APPENDIX</a:t>
            </a:r>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Dataset: Harrison, D. &amp; Rubinfeld, D.L. (1978). Hedonic prices and the demand for clean air. Journal of Environmental Economics and Management. | Variables: CRIM, ZN, INDUS, CHAS, NOX, RM, AGE, DIS, RAD, TAX, PTRATIO, B, LSTAT, MEDV | Source: UCI ML Repository</a:t>
            </a:r>
            <a:endParaRPr lang="en-US" dirty="0"/>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TotalTime>
  <Words>1097</Words>
  <Application>Microsoft Macintosh PowerPoint</Application>
  <PresentationFormat>Widescreen</PresentationFormat>
  <Paragraphs>111</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Helv</vt:lpstr>
      <vt:lpstr>IBM Plex Mono</vt:lpstr>
      <vt:lpstr>IBM Plex Mono Medium</vt:lpstr>
      <vt:lpstr>IBM Plex Sans</vt:lpstr>
      <vt:lpstr>IBM Plex Sans SemiBold</vt:lpstr>
      <vt:lpstr>SLIDE_TEMPLATE_skill_network</vt:lpstr>
      <vt:lpstr>Boston Housing Data Analysis</vt:lpstr>
      <vt:lpstr>PowerPoint Presentation</vt:lpstr>
      <vt:lpstr>EXECUTIVE SUMMARY</vt:lpstr>
      <vt:lpstr>INTRODUCTION</vt:lpstr>
      <vt:lpstr>METHODOLOGY</vt:lpstr>
      <vt:lpstr>Results</vt:lpstr>
      <vt:lpstr>MEDV DISTRIBUTION (BOXPLOT)</vt:lpstr>
      <vt:lpstr>CHARLES RIVER PROXIMITY (CHAS)</vt:lpstr>
      <vt:lpstr>HOME VALUES BY BUILDING AGE GROUP</vt:lpstr>
      <vt:lpstr>HOME VALUE &amp; RIVER PROXIMITY – FINDINGS</vt:lpstr>
      <vt:lpstr>NOX POLLUTION VS. INDUSTRIAL LAND (INDUS)</vt:lpstr>
      <vt:lpstr>AGE &amp; POLLUTION – FINDINGS &amp; IMPLICATIONS</vt:lpstr>
      <vt:lpstr>ADDITIONAL ANALYSIS</vt:lpstr>
      <vt:lpstr>PUPIL-TEACHER RATIO DISTRIBUTION</vt:lpstr>
      <vt:lpstr>PTRATIO – FINDINGS &amp; IMPLICATIONS</vt:lpstr>
      <vt:lpstr>CROSS-VARIABLE RELATIONSHIPS</vt:lpstr>
      <vt:lpstr>DISCUSSION</vt:lpstr>
      <vt:lpstr>OVERALL FINDINGS &amp; IMPLICATIONS</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Giang Lại Ngân</cp:lastModifiedBy>
  <cp:revision>7</cp:revision>
  <dcterms:created xsi:type="dcterms:W3CDTF">2024-10-30T05:40:03Z</dcterms:created>
  <dcterms:modified xsi:type="dcterms:W3CDTF">2026-04-20T04:20:57Z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